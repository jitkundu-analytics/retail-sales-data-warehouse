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6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C66"/>
    <a:srgbClr val="3399FF"/>
    <a:srgbClr val="CCFF33"/>
    <a:srgbClr val="FFFFCC"/>
    <a:srgbClr val="FF9933"/>
    <a:srgbClr val="FFCC00"/>
    <a:srgbClr val="CCECFF"/>
    <a:srgbClr val="DEEBF7"/>
    <a:srgbClr val="CCCCFF"/>
    <a:srgbClr val="FFFF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004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37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4152F-078F-48E2-B762-9533E1C401E0}" type="datetimeFigureOut">
              <a:rPr lang="en-US" smtClean="0"/>
              <a:t>21-05-2026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4781A3-FCA7-4C79-89F2-0167C397D30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82946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4152F-078F-48E2-B762-9533E1C401E0}" type="datetimeFigureOut">
              <a:rPr lang="en-US" smtClean="0"/>
              <a:t>21-05-2026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4781A3-FCA7-4C79-89F2-0167C397D30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73227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4152F-078F-48E2-B762-9533E1C401E0}" type="datetimeFigureOut">
              <a:rPr lang="en-US" smtClean="0"/>
              <a:t>21-05-2026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4781A3-FCA7-4C79-89F2-0167C397D30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22844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4152F-078F-48E2-B762-9533E1C401E0}" type="datetimeFigureOut">
              <a:rPr lang="en-US" smtClean="0"/>
              <a:t>21-05-2026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4781A3-FCA7-4C79-89F2-0167C397D30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57644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4152F-078F-48E2-B762-9533E1C401E0}" type="datetimeFigureOut">
              <a:rPr lang="en-US" smtClean="0"/>
              <a:t>21-05-2026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4781A3-FCA7-4C79-89F2-0167C397D30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50610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4152F-078F-48E2-B762-9533E1C401E0}" type="datetimeFigureOut">
              <a:rPr lang="en-US" smtClean="0"/>
              <a:t>21-05-2026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4781A3-FCA7-4C79-89F2-0167C397D30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21212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4152F-078F-48E2-B762-9533E1C401E0}" type="datetimeFigureOut">
              <a:rPr lang="en-US" smtClean="0"/>
              <a:t>21-05-2026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4781A3-FCA7-4C79-89F2-0167C397D30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41234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4152F-078F-48E2-B762-9533E1C401E0}" type="datetimeFigureOut">
              <a:rPr lang="en-US" smtClean="0"/>
              <a:t>21-05-2026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4781A3-FCA7-4C79-89F2-0167C397D30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54684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4152F-078F-48E2-B762-9533E1C401E0}" type="datetimeFigureOut">
              <a:rPr lang="en-US" smtClean="0"/>
              <a:t>21-05-2026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4781A3-FCA7-4C79-89F2-0167C397D30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57629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4152F-078F-48E2-B762-9533E1C401E0}" type="datetimeFigureOut">
              <a:rPr lang="en-US" smtClean="0"/>
              <a:t>21-05-2026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4781A3-FCA7-4C79-89F2-0167C397D30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01822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4152F-078F-48E2-B762-9533E1C401E0}" type="datetimeFigureOut">
              <a:rPr lang="en-US" smtClean="0"/>
              <a:t>21-05-2026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4781A3-FCA7-4C79-89F2-0167C397D30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44515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34152F-078F-48E2-B762-9533E1C401E0}" type="datetimeFigureOut">
              <a:rPr lang="en-US" smtClean="0"/>
              <a:t>21-05-2026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4781A3-FCA7-4C79-89F2-0167C397D30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9335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2.png"/><Relationship Id="rId7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8.jpeg"/><Relationship Id="rId5" Type="http://schemas.openxmlformats.org/officeDocument/2006/relationships/image" Target="../media/image4.png"/><Relationship Id="rId10" Type="http://schemas.microsoft.com/office/2007/relationships/hdphoto" Target="../media/hdphoto2.wdp"/><Relationship Id="rId4" Type="http://schemas.openxmlformats.org/officeDocument/2006/relationships/image" Target="../media/image3.pn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jpeg"/><Relationship Id="rId3" Type="http://schemas.openxmlformats.org/officeDocument/2006/relationships/image" Target="../media/image5.png"/><Relationship Id="rId7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10" Type="http://schemas.openxmlformats.org/officeDocument/2006/relationships/image" Target="../media/image2.png"/><Relationship Id="rId4" Type="http://schemas.microsoft.com/office/2007/relationships/hdphoto" Target="../media/hdphoto1.wdp"/><Relationship Id="rId9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Box"/>
          <p:cNvSpPr/>
          <p:nvPr/>
        </p:nvSpPr>
        <p:spPr>
          <a:xfrm>
            <a:off x="81481" y="81481"/>
            <a:ext cx="12032056" cy="6681458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6" name="Source"/>
          <p:cNvGrpSpPr/>
          <p:nvPr/>
        </p:nvGrpSpPr>
        <p:grpSpPr>
          <a:xfrm>
            <a:off x="725558" y="957539"/>
            <a:ext cx="1503904" cy="5497582"/>
            <a:chOff x="1064029" y="957539"/>
            <a:chExt cx="1246909" cy="4786555"/>
          </a:xfrm>
        </p:grpSpPr>
        <p:sp>
          <p:nvSpPr>
            <p:cNvPr id="6" name="Rectangle 5"/>
            <p:cNvSpPr/>
            <p:nvPr/>
          </p:nvSpPr>
          <p:spPr>
            <a:xfrm>
              <a:off x="1064029" y="1080653"/>
              <a:ext cx="1246909" cy="4663441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1242752" y="957539"/>
              <a:ext cx="889462" cy="253916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5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Source</a:t>
              </a:r>
              <a:endParaRPr lang="en-US" sz="105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4" name="Data warehouse"/>
          <p:cNvGrpSpPr/>
          <p:nvPr/>
        </p:nvGrpSpPr>
        <p:grpSpPr>
          <a:xfrm>
            <a:off x="2558760" y="882411"/>
            <a:ext cx="7056019" cy="5572709"/>
            <a:chOff x="2821304" y="882412"/>
            <a:chExt cx="3956859" cy="4861680"/>
          </a:xfrm>
        </p:grpSpPr>
        <p:sp>
          <p:nvSpPr>
            <p:cNvPr id="8" name="Rectangle 7"/>
            <p:cNvSpPr/>
            <p:nvPr/>
          </p:nvSpPr>
          <p:spPr>
            <a:xfrm>
              <a:off x="2821304" y="1080651"/>
              <a:ext cx="3956859" cy="4663441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4102556" y="882412"/>
              <a:ext cx="1396410" cy="369332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Data Warehouse</a:t>
              </a:r>
            </a:p>
          </p:txBody>
        </p:sp>
      </p:grpSp>
      <p:grpSp>
        <p:nvGrpSpPr>
          <p:cNvPr id="15" name="Consume"/>
          <p:cNvGrpSpPr/>
          <p:nvPr/>
        </p:nvGrpSpPr>
        <p:grpSpPr>
          <a:xfrm>
            <a:off x="9947745" y="957540"/>
            <a:ext cx="1595423" cy="5497580"/>
            <a:chOff x="7331825" y="957540"/>
            <a:chExt cx="1246909" cy="4786552"/>
          </a:xfrm>
        </p:grpSpPr>
        <p:sp>
          <p:nvSpPr>
            <p:cNvPr id="11" name="Rectangle 10"/>
            <p:cNvSpPr/>
            <p:nvPr/>
          </p:nvSpPr>
          <p:spPr>
            <a:xfrm>
              <a:off x="7331825" y="1080651"/>
              <a:ext cx="1246909" cy="4663441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7510548" y="957540"/>
              <a:ext cx="889462" cy="253916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5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Consume</a:t>
              </a:r>
              <a:endParaRPr lang="en-US" sz="10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3" name="TextBox 12"/>
          <p:cNvSpPr txBox="1"/>
          <p:nvPr/>
        </p:nvSpPr>
        <p:spPr>
          <a:xfrm>
            <a:off x="226337" y="253497"/>
            <a:ext cx="2779413" cy="36933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High Level Architecture :-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0" name="Group 19"/>
          <p:cNvGrpSpPr/>
          <p:nvPr/>
        </p:nvGrpSpPr>
        <p:grpSpPr>
          <a:xfrm>
            <a:off x="2835196" y="1412341"/>
            <a:ext cx="1621004" cy="4798336"/>
            <a:chOff x="3195873" y="1589227"/>
            <a:chExt cx="1303699" cy="3648045"/>
          </a:xfrm>
        </p:grpSpPr>
        <p:sp>
          <p:nvSpPr>
            <p:cNvPr id="17" name="Rectangle 16"/>
            <p:cNvSpPr/>
            <p:nvPr/>
          </p:nvSpPr>
          <p:spPr>
            <a:xfrm>
              <a:off x="3195873" y="1589227"/>
              <a:ext cx="1303699" cy="234233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b="1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Bronze Level</a:t>
              </a:r>
              <a:endParaRPr lang="en-US" sz="105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9" name="Rectangle 18"/>
            <p:cNvSpPr/>
            <p:nvPr/>
          </p:nvSpPr>
          <p:spPr>
            <a:xfrm>
              <a:off x="3195873" y="1862028"/>
              <a:ext cx="1303699" cy="337524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 b="1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21" name="Group 20"/>
          <p:cNvGrpSpPr/>
          <p:nvPr/>
        </p:nvGrpSpPr>
        <p:grpSpPr>
          <a:xfrm>
            <a:off x="5126551" y="1412341"/>
            <a:ext cx="1609524" cy="4798335"/>
            <a:chOff x="3195873" y="1589227"/>
            <a:chExt cx="1303699" cy="3648045"/>
          </a:xfrm>
          <a:solidFill>
            <a:srgbClr val="CCECFF"/>
          </a:solidFill>
        </p:grpSpPr>
        <p:sp>
          <p:nvSpPr>
            <p:cNvPr id="22" name="Rectangle 21"/>
            <p:cNvSpPr/>
            <p:nvPr/>
          </p:nvSpPr>
          <p:spPr>
            <a:xfrm>
              <a:off x="3195873" y="1589227"/>
              <a:ext cx="1303699" cy="234233"/>
            </a:xfrm>
            <a:prstGeom prst="rect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b="1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Silver Level</a:t>
              </a:r>
              <a:endParaRPr lang="en-US" sz="105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3" name="Rectangle 22"/>
            <p:cNvSpPr/>
            <p:nvPr/>
          </p:nvSpPr>
          <p:spPr>
            <a:xfrm>
              <a:off x="3195873" y="1862028"/>
              <a:ext cx="1303699" cy="3375244"/>
            </a:xfrm>
            <a:prstGeom prst="rect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 b="1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24" name="Group 23"/>
          <p:cNvGrpSpPr/>
          <p:nvPr/>
        </p:nvGrpSpPr>
        <p:grpSpPr>
          <a:xfrm>
            <a:off x="7406426" y="1412342"/>
            <a:ext cx="1592493" cy="4798334"/>
            <a:chOff x="3195873" y="1589227"/>
            <a:chExt cx="1303699" cy="3648045"/>
          </a:xfrm>
          <a:solidFill>
            <a:srgbClr val="FFFF66"/>
          </a:solidFill>
        </p:grpSpPr>
        <p:sp>
          <p:nvSpPr>
            <p:cNvPr id="25" name="Rectangle 24"/>
            <p:cNvSpPr/>
            <p:nvPr/>
          </p:nvSpPr>
          <p:spPr>
            <a:xfrm>
              <a:off x="3195873" y="1589227"/>
              <a:ext cx="1303699" cy="234233"/>
            </a:xfrm>
            <a:prstGeom prst="rect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b="1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Gold Level</a:t>
              </a:r>
              <a:endParaRPr lang="en-US" sz="105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6" name="Rectangle 25"/>
            <p:cNvSpPr/>
            <p:nvPr/>
          </p:nvSpPr>
          <p:spPr>
            <a:xfrm>
              <a:off x="3195873" y="1862028"/>
              <a:ext cx="1303699" cy="3375244"/>
            </a:xfrm>
            <a:prstGeom prst="rect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 b="1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34" name="Group 33"/>
          <p:cNvGrpSpPr/>
          <p:nvPr/>
        </p:nvGrpSpPr>
        <p:grpSpPr>
          <a:xfrm>
            <a:off x="821767" y="2462931"/>
            <a:ext cx="1297460" cy="877864"/>
            <a:chOff x="1156014" y="2494485"/>
            <a:chExt cx="1206346" cy="934780"/>
          </a:xfrm>
        </p:grpSpPr>
        <p:pic>
          <p:nvPicPr>
            <p:cNvPr id="35" name="Picture 34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61275" y="2494485"/>
              <a:ext cx="686120" cy="494292"/>
            </a:xfrm>
            <a:prstGeom prst="rect">
              <a:avLst/>
            </a:prstGeom>
          </p:spPr>
        </p:pic>
        <p:pic>
          <p:nvPicPr>
            <p:cNvPr id="36" name="Picture 35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516234" y="2721955"/>
              <a:ext cx="484106" cy="484106"/>
            </a:xfrm>
            <a:prstGeom prst="rect">
              <a:avLst/>
            </a:prstGeom>
          </p:spPr>
        </p:pic>
        <p:sp>
          <p:nvSpPr>
            <p:cNvPr id="37" name="TextBox 36"/>
            <p:cNvSpPr txBox="1"/>
            <p:nvPr/>
          </p:nvSpPr>
          <p:spPr>
            <a:xfrm>
              <a:off x="1156014" y="3167080"/>
              <a:ext cx="1206346" cy="2621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b="1" dirty="0" smtClean="0"/>
                <a:t>SQL Project Dataset</a:t>
              </a:r>
              <a:endParaRPr lang="en-US" sz="1000" b="1" dirty="0"/>
            </a:p>
          </p:txBody>
        </p:sp>
      </p:grpSp>
      <p:cxnSp>
        <p:nvCxnSpPr>
          <p:cNvPr id="39" name="Straight Connector 38"/>
          <p:cNvCxnSpPr/>
          <p:nvPr/>
        </p:nvCxnSpPr>
        <p:spPr>
          <a:xfrm>
            <a:off x="852257" y="3876031"/>
            <a:ext cx="1236481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693653" y="3975820"/>
            <a:ext cx="165805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Object Types – CSV Files</a:t>
            </a:r>
            <a:endParaRPr lang="en-US" sz="9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714990" y="4168429"/>
            <a:ext cx="154896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Inter face – Files in folder</a:t>
            </a:r>
            <a:endParaRPr lang="en-US" sz="9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9" name="Picture 4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6243" y="2454566"/>
            <a:ext cx="774876" cy="774876"/>
          </a:xfrm>
          <a:prstGeom prst="rect">
            <a:avLst/>
          </a:prstGeom>
        </p:spPr>
      </p:pic>
      <p:pic>
        <p:nvPicPr>
          <p:cNvPr id="50" name="Picture 49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15725" y="2454566"/>
            <a:ext cx="774876" cy="774876"/>
          </a:xfrm>
          <a:prstGeom prst="rect">
            <a:avLst/>
          </a:prstGeom>
        </p:spPr>
      </p:pic>
      <p:pic>
        <p:nvPicPr>
          <p:cNvPr id="51" name="Picture 50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16216" y="2454566"/>
            <a:ext cx="774876" cy="774876"/>
          </a:xfrm>
          <a:prstGeom prst="rect">
            <a:avLst/>
          </a:prstGeom>
        </p:spPr>
      </p:pic>
      <p:sp>
        <p:nvSpPr>
          <p:cNvPr id="53" name="Right Arrow 52"/>
          <p:cNvSpPr/>
          <p:nvPr/>
        </p:nvSpPr>
        <p:spPr>
          <a:xfrm>
            <a:off x="4592762" y="2514756"/>
            <a:ext cx="457177" cy="470161"/>
          </a:xfrm>
          <a:prstGeom prst="rightArrow">
            <a:avLst/>
          </a:prstGeom>
          <a:solidFill>
            <a:srgbClr val="9999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6" name="Right Arrow 55"/>
          <p:cNvSpPr/>
          <p:nvPr/>
        </p:nvSpPr>
        <p:spPr>
          <a:xfrm>
            <a:off x="6886019" y="2509292"/>
            <a:ext cx="447648" cy="470161"/>
          </a:xfrm>
          <a:prstGeom prst="rightArrow">
            <a:avLst/>
          </a:prstGeom>
          <a:solidFill>
            <a:srgbClr val="9999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7" name="Right Arrow 56"/>
          <p:cNvSpPr/>
          <p:nvPr/>
        </p:nvSpPr>
        <p:spPr>
          <a:xfrm>
            <a:off x="2328283" y="2514757"/>
            <a:ext cx="446011" cy="470161"/>
          </a:xfrm>
          <a:prstGeom prst="rightArrow">
            <a:avLst/>
          </a:prstGeom>
          <a:solidFill>
            <a:srgbClr val="9999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8" name="Right Arrow 57"/>
          <p:cNvSpPr/>
          <p:nvPr/>
        </p:nvSpPr>
        <p:spPr>
          <a:xfrm>
            <a:off x="9141719" y="2509292"/>
            <a:ext cx="473060" cy="470161"/>
          </a:xfrm>
          <a:prstGeom prst="rightArrow">
            <a:avLst/>
          </a:prstGeom>
          <a:solidFill>
            <a:srgbClr val="9999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9" name="TextBox 58"/>
          <p:cNvSpPr txBox="1"/>
          <p:nvPr/>
        </p:nvSpPr>
        <p:spPr>
          <a:xfrm>
            <a:off x="3059139" y="3229442"/>
            <a:ext cx="112479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Raw Data</a:t>
            </a:r>
            <a:endParaRPr lang="en-US" sz="1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5380233" y="3231218"/>
            <a:ext cx="11247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Clean, Standardized Data</a:t>
            </a:r>
            <a:endParaRPr lang="en-US" sz="9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7639819" y="3229442"/>
            <a:ext cx="112479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Business – Ready data</a:t>
            </a:r>
          </a:p>
        </p:txBody>
      </p:sp>
      <p:cxnSp>
        <p:nvCxnSpPr>
          <p:cNvPr id="62" name="Straight Connector 61"/>
          <p:cNvCxnSpPr/>
          <p:nvPr/>
        </p:nvCxnSpPr>
        <p:spPr>
          <a:xfrm>
            <a:off x="2971430" y="3725771"/>
            <a:ext cx="130369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/>
          <p:cNvCxnSpPr/>
          <p:nvPr/>
        </p:nvCxnSpPr>
        <p:spPr>
          <a:xfrm>
            <a:off x="7550367" y="3725771"/>
            <a:ext cx="130369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/>
          <p:cNvCxnSpPr/>
          <p:nvPr/>
        </p:nvCxnSpPr>
        <p:spPr>
          <a:xfrm>
            <a:off x="5251314" y="3725771"/>
            <a:ext cx="130369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TextBox 67"/>
          <p:cNvSpPr txBox="1"/>
          <p:nvPr/>
        </p:nvSpPr>
        <p:spPr>
          <a:xfrm>
            <a:off x="2835196" y="3876031"/>
            <a:ext cx="162100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Object Types – Table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2835196" y="4098929"/>
            <a:ext cx="162100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Load</a:t>
            </a:r>
            <a:endParaRPr lang="en-US" sz="8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0" name="TextBox 69"/>
          <p:cNvSpPr txBox="1"/>
          <p:nvPr/>
        </p:nvSpPr>
        <p:spPr>
          <a:xfrm>
            <a:off x="2873539" y="4308412"/>
            <a:ext cx="1582661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sz="9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Batch Processing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sz="9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Full Load 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sz="9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Truncate &amp; Insert 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2857168" y="4834704"/>
            <a:ext cx="15826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No Transformation</a:t>
            </a:r>
            <a:br>
              <a:rPr lang="en-US" sz="9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9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Data Model : None (as –is)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131442" y="3912847"/>
            <a:ext cx="162100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Object Types – Table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131442" y="4135745"/>
            <a:ext cx="162100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Load</a:t>
            </a:r>
            <a:endParaRPr lang="en-US" sz="8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4" name="TextBox 73"/>
          <p:cNvSpPr txBox="1"/>
          <p:nvPr/>
        </p:nvSpPr>
        <p:spPr>
          <a:xfrm>
            <a:off x="5169785" y="4345228"/>
            <a:ext cx="1582661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sz="9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Batch Processing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sz="9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Full Load 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sz="9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Truncate &amp; Insert 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153414" y="4871520"/>
            <a:ext cx="158266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sz="9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Transformation</a:t>
            </a:r>
          </a:p>
          <a:p>
            <a:r>
              <a:rPr lang="en-US" sz="9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* Data Cleansing</a:t>
            </a:r>
            <a:br>
              <a:rPr lang="en-US" sz="9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9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* Data Standardization</a:t>
            </a:r>
          </a:p>
          <a:p>
            <a:r>
              <a:rPr lang="en-US" sz="9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* Data Normalization</a:t>
            </a:r>
            <a:br>
              <a:rPr lang="en-US" sz="9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9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* Derived Columns</a:t>
            </a:r>
            <a:br>
              <a:rPr lang="en-US" sz="9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9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* Data Enrichment</a:t>
            </a:r>
          </a:p>
          <a:p>
            <a:r>
              <a:rPr lang="en-US" sz="9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9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9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Data Model : None (as –is)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394286" y="3912847"/>
            <a:ext cx="162100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Object Types – Table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7394286" y="4135745"/>
            <a:ext cx="162100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No Load</a:t>
            </a:r>
            <a:endParaRPr lang="en-US" sz="8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8" name="TextBox 77"/>
          <p:cNvSpPr txBox="1"/>
          <p:nvPr/>
        </p:nvSpPr>
        <p:spPr>
          <a:xfrm>
            <a:off x="7432629" y="4345228"/>
            <a:ext cx="158266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sz="9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Transformation</a:t>
            </a:r>
          </a:p>
          <a:p>
            <a:r>
              <a:rPr lang="en-US" sz="9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* Data Integrations</a:t>
            </a:r>
            <a:br>
              <a:rPr lang="en-US" sz="9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9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* Aggregations</a:t>
            </a:r>
            <a:br>
              <a:rPr lang="en-US" sz="9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9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* Business Logics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7416258" y="4871520"/>
            <a:ext cx="1582661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9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9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Data Model :</a:t>
            </a:r>
            <a:br>
              <a:rPr lang="en-US" sz="9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9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* Star Schema</a:t>
            </a:r>
            <a:br>
              <a:rPr lang="en-US" sz="9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9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* Flat Table</a:t>
            </a:r>
            <a:br>
              <a:rPr lang="en-US" sz="9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9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* Aggregated Table</a:t>
            </a:r>
          </a:p>
        </p:txBody>
      </p:sp>
      <p:pic>
        <p:nvPicPr>
          <p:cNvPr id="80" name="Picture 79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91191" y="2404575"/>
            <a:ext cx="962939" cy="541653"/>
          </a:xfrm>
          <a:prstGeom prst="rect">
            <a:avLst/>
          </a:prstGeom>
        </p:spPr>
      </p:pic>
      <p:pic>
        <p:nvPicPr>
          <p:cNvPr id="81" name="Picture 80"/>
          <p:cNvPicPr>
            <a:picLocks noChangeAspect="1"/>
          </p:cNvPicPr>
          <p:nvPr/>
        </p:nvPicPr>
        <p:blipFill>
          <a:blip r:embed="rId6" cstate="print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0" b="99688" l="0" r="100000">
                        <a14:foregroundMark x1="36563" y1="22500" x2="36563" y2="22500"/>
                        <a14:foregroundMark x1="50938" y1="13438" x2="50938" y2="13438"/>
                        <a14:foregroundMark x1="63438" y1="15000" x2="63438" y2="15000"/>
                        <a14:foregroundMark x1="70938" y1="28125" x2="70938" y2="28125"/>
                        <a14:foregroundMark x1="63125" y1="42188" x2="63125" y2="42188"/>
                        <a14:foregroundMark x1="50625" y1="48750" x2="50625" y2="48750"/>
                        <a14:foregroundMark x1="36875" y1="44063" x2="36875" y2="44063"/>
                        <a14:foregroundMark x1="28438" y1="32813" x2="28438" y2="32813"/>
                        <a14:foregroundMark x1="50313" y1="8750" x2="50313" y2="8750"/>
                        <a14:foregroundMark x1="53438" y1="11563" x2="53438" y2="11563"/>
                        <a14:foregroundMark x1="35938" y1="69063" x2="35938" y2="69063"/>
                        <a14:foregroundMark x1="39375" y1="71875" x2="39375" y2="71875"/>
                        <a14:foregroundMark x1="48750" y1="69375" x2="48750" y2="69375"/>
                        <a14:foregroundMark x1="8438" y1="73438" x2="8438" y2="73438"/>
                        <a14:foregroundMark x1="21875" y1="71563" x2="21875" y2="71563"/>
                        <a14:foregroundMark x1="26875" y1="73125" x2="26875" y2="73125"/>
                        <a14:foregroundMark x1="35625" y1="72500" x2="35625" y2="72500"/>
                        <a14:foregroundMark x1="49688" y1="74688" x2="49688" y2="74688"/>
                        <a14:foregroundMark x1="57813" y1="73125" x2="57813" y2="73125"/>
                        <a14:foregroundMark x1="75313" y1="70625" x2="75313" y2="70625"/>
                        <a14:foregroundMark x1="26250" y1="30625" x2="26250" y2="30625"/>
                        <a14:foregroundMark x1="28750" y1="28750" x2="28750" y2="28750"/>
                        <a14:foregroundMark x1="35938" y1="39063" x2="35938" y2="39063"/>
                        <a14:foregroundMark x1="40313" y1="43750" x2="40313" y2="43750"/>
                        <a14:foregroundMark x1="31875" y1="44063" x2="31875" y2="44063"/>
                        <a14:foregroundMark x1="50313" y1="52812" x2="50313" y2="52812"/>
                        <a14:foregroundMark x1="46875" y1="51563" x2="46875" y2="51563"/>
                        <a14:foregroundMark x1="86250" y1="72188" x2="86250" y2="72188"/>
                        <a14:foregroundMark x1="46250" y1="11563" x2="46250" y2="11563"/>
                        <a14:foregroundMark x1="29063" y1="26250" x2="29063" y2="26250"/>
                        <a14:foregroundMark x1="36875" y1="49375" x2="36875" y2="49375"/>
                        <a14:foregroundMark x1="61250" y1="73125" x2="61250" y2="7312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1091" y="2432088"/>
            <a:ext cx="514140" cy="514140"/>
          </a:xfrm>
          <a:prstGeom prst="rect">
            <a:avLst/>
          </a:prstGeom>
        </p:spPr>
      </p:pic>
      <p:sp>
        <p:nvSpPr>
          <p:cNvPr id="82" name="TextBox 81"/>
          <p:cNvSpPr txBox="1"/>
          <p:nvPr/>
        </p:nvSpPr>
        <p:spPr>
          <a:xfrm>
            <a:off x="10091191" y="3087232"/>
            <a:ext cx="13161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BI &amp; Reporting</a:t>
            </a:r>
          </a:p>
        </p:txBody>
      </p:sp>
      <p:pic>
        <p:nvPicPr>
          <p:cNvPr id="83" name="Picture 82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04119" y="3491052"/>
            <a:ext cx="682671" cy="682671"/>
          </a:xfrm>
          <a:prstGeom prst="rect">
            <a:avLst/>
          </a:prstGeom>
        </p:spPr>
      </p:pic>
      <p:sp>
        <p:nvSpPr>
          <p:cNvPr id="84" name="TextBox 83"/>
          <p:cNvSpPr txBox="1"/>
          <p:nvPr/>
        </p:nvSpPr>
        <p:spPr>
          <a:xfrm>
            <a:off x="10087366" y="4258855"/>
            <a:ext cx="13161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Ad – Hoc </a:t>
            </a:r>
            <a:br>
              <a:rPr lang="en-US" sz="1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SQL Queries</a:t>
            </a:r>
          </a:p>
        </p:txBody>
      </p:sp>
      <p:pic>
        <p:nvPicPr>
          <p:cNvPr id="85" name="Picture 84"/>
          <p:cNvPicPr>
            <a:picLocks noChangeAspect="1"/>
          </p:cNvPicPr>
          <p:nvPr/>
        </p:nvPicPr>
        <p:blipFill>
          <a:blip r:embed="rId9" cstate="print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9945" b="89503" l="1105" r="9779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8469" y="4816243"/>
            <a:ext cx="753967" cy="753967"/>
          </a:xfrm>
          <a:prstGeom prst="rect">
            <a:avLst/>
          </a:prstGeom>
        </p:spPr>
      </p:pic>
      <p:sp>
        <p:nvSpPr>
          <p:cNvPr id="86" name="TextBox 85"/>
          <p:cNvSpPr txBox="1"/>
          <p:nvPr/>
        </p:nvSpPr>
        <p:spPr>
          <a:xfrm>
            <a:off x="10095349" y="5571991"/>
            <a:ext cx="13161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</a:t>
            </a:r>
          </a:p>
        </p:txBody>
      </p:sp>
      <p:pic>
        <p:nvPicPr>
          <p:cNvPr id="88" name="Picture 87"/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40692" y="128183"/>
            <a:ext cx="911520" cy="741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01937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Box"/>
          <p:cNvSpPr/>
          <p:nvPr/>
        </p:nvSpPr>
        <p:spPr>
          <a:xfrm>
            <a:off x="81481" y="81481"/>
            <a:ext cx="12032056" cy="6681458"/>
          </a:xfrm>
          <a:prstGeom prst="rect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6" name="Source"/>
          <p:cNvGrpSpPr/>
          <p:nvPr/>
        </p:nvGrpSpPr>
        <p:grpSpPr>
          <a:xfrm>
            <a:off x="725558" y="957539"/>
            <a:ext cx="1503904" cy="5497582"/>
            <a:chOff x="1064029" y="957539"/>
            <a:chExt cx="1246909" cy="4786555"/>
          </a:xfrm>
        </p:grpSpPr>
        <p:sp>
          <p:nvSpPr>
            <p:cNvPr id="6" name="Rectangle 5"/>
            <p:cNvSpPr/>
            <p:nvPr/>
          </p:nvSpPr>
          <p:spPr>
            <a:xfrm>
              <a:off x="1064029" y="1080653"/>
              <a:ext cx="1246909" cy="4663441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1242752" y="957539"/>
              <a:ext cx="889462" cy="253916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5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Source</a:t>
              </a:r>
              <a:endParaRPr lang="en-US" sz="105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4" name="Data warehouse"/>
          <p:cNvGrpSpPr/>
          <p:nvPr/>
        </p:nvGrpSpPr>
        <p:grpSpPr>
          <a:xfrm>
            <a:off x="2558760" y="882411"/>
            <a:ext cx="7056019" cy="5572709"/>
            <a:chOff x="2821304" y="882412"/>
            <a:chExt cx="3956859" cy="4861680"/>
          </a:xfrm>
        </p:grpSpPr>
        <p:sp>
          <p:nvSpPr>
            <p:cNvPr id="8" name="Rectangle 7"/>
            <p:cNvSpPr/>
            <p:nvPr/>
          </p:nvSpPr>
          <p:spPr>
            <a:xfrm>
              <a:off x="2821304" y="1080651"/>
              <a:ext cx="3956859" cy="4663441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4102556" y="882412"/>
              <a:ext cx="1396410" cy="369332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Data Warehouse</a:t>
              </a:r>
            </a:p>
          </p:txBody>
        </p:sp>
      </p:grpSp>
      <p:grpSp>
        <p:nvGrpSpPr>
          <p:cNvPr id="15" name="Consume"/>
          <p:cNvGrpSpPr/>
          <p:nvPr/>
        </p:nvGrpSpPr>
        <p:grpSpPr>
          <a:xfrm>
            <a:off x="9947745" y="957540"/>
            <a:ext cx="1595423" cy="5497580"/>
            <a:chOff x="7331825" y="957540"/>
            <a:chExt cx="1246909" cy="4786552"/>
          </a:xfrm>
        </p:grpSpPr>
        <p:sp>
          <p:nvSpPr>
            <p:cNvPr id="11" name="Rectangle 10"/>
            <p:cNvSpPr/>
            <p:nvPr/>
          </p:nvSpPr>
          <p:spPr>
            <a:xfrm>
              <a:off x="7331825" y="1080651"/>
              <a:ext cx="1246909" cy="4663441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7510548" y="957540"/>
              <a:ext cx="889462" cy="253916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5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Consume</a:t>
              </a:r>
              <a:endParaRPr lang="en-US" sz="10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3" name="TextBox 12"/>
          <p:cNvSpPr txBox="1"/>
          <p:nvPr/>
        </p:nvSpPr>
        <p:spPr>
          <a:xfrm>
            <a:off x="226337" y="253497"/>
            <a:ext cx="2779413" cy="36933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Data Flow Diagram:-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0" name="Group 19"/>
          <p:cNvGrpSpPr/>
          <p:nvPr/>
        </p:nvGrpSpPr>
        <p:grpSpPr>
          <a:xfrm>
            <a:off x="2835196" y="1412341"/>
            <a:ext cx="1621004" cy="4798336"/>
            <a:chOff x="3195873" y="1589227"/>
            <a:chExt cx="1303699" cy="3648045"/>
          </a:xfrm>
        </p:grpSpPr>
        <p:sp>
          <p:nvSpPr>
            <p:cNvPr id="17" name="Rectangle 16"/>
            <p:cNvSpPr/>
            <p:nvPr/>
          </p:nvSpPr>
          <p:spPr>
            <a:xfrm>
              <a:off x="3195873" y="1589227"/>
              <a:ext cx="1303699" cy="234233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b="1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Bronze Level</a:t>
              </a:r>
              <a:endParaRPr lang="en-US" sz="105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9" name="Rectangle 18"/>
            <p:cNvSpPr/>
            <p:nvPr/>
          </p:nvSpPr>
          <p:spPr>
            <a:xfrm>
              <a:off x="3195873" y="1862028"/>
              <a:ext cx="1303699" cy="337524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 b="1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21" name="Group 20"/>
          <p:cNvGrpSpPr/>
          <p:nvPr/>
        </p:nvGrpSpPr>
        <p:grpSpPr>
          <a:xfrm>
            <a:off x="5126551" y="1412341"/>
            <a:ext cx="1609524" cy="4798335"/>
            <a:chOff x="3195873" y="1589227"/>
            <a:chExt cx="1303699" cy="3648045"/>
          </a:xfrm>
          <a:solidFill>
            <a:srgbClr val="CCECFF"/>
          </a:solidFill>
        </p:grpSpPr>
        <p:sp>
          <p:nvSpPr>
            <p:cNvPr id="22" name="Rectangle 21"/>
            <p:cNvSpPr/>
            <p:nvPr/>
          </p:nvSpPr>
          <p:spPr>
            <a:xfrm>
              <a:off x="3195873" y="1589227"/>
              <a:ext cx="1303699" cy="234233"/>
            </a:xfrm>
            <a:prstGeom prst="rect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b="1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Silver Level</a:t>
              </a:r>
              <a:endParaRPr lang="en-US" sz="105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3" name="Rectangle 22"/>
            <p:cNvSpPr/>
            <p:nvPr/>
          </p:nvSpPr>
          <p:spPr>
            <a:xfrm>
              <a:off x="3195873" y="1862028"/>
              <a:ext cx="1303699" cy="3375244"/>
            </a:xfrm>
            <a:prstGeom prst="rect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 b="1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24" name="Group 23"/>
          <p:cNvGrpSpPr/>
          <p:nvPr/>
        </p:nvGrpSpPr>
        <p:grpSpPr>
          <a:xfrm>
            <a:off x="7406426" y="1412342"/>
            <a:ext cx="1592493" cy="4798334"/>
            <a:chOff x="3195873" y="1589227"/>
            <a:chExt cx="1303699" cy="3648045"/>
          </a:xfrm>
          <a:solidFill>
            <a:srgbClr val="FFFF66"/>
          </a:solidFill>
        </p:grpSpPr>
        <p:sp>
          <p:nvSpPr>
            <p:cNvPr id="25" name="Rectangle 24"/>
            <p:cNvSpPr/>
            <p:nvPr/>
          </p:nvSpPr>
          <p:spPr>
            <a:xfrm>
              <a:off x="3195873" y="1589227"/>
              <a:ext cx="1303699" cy="234233"/>
            </a:xfrm>
            <a:prstGeom prst="rect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b="1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Gold Level</a:t>
              </a:r>
              <a:endParaRPr lang="en-US" sz="105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6" name="Rectangle 25"/>
            <p:cNvSpPr/>
            <p:nvPr/>
          </p:nvSpPr>
          <p:spPr>
            <a:xfrm>
              <a:off x="3195873" y="1862028"/>
              <a:ext cx="1303699" cy="3375244"/>
            </a:xfrm>
            <a:prstGeom prst="rect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 b="1" dirty="0">
                <a:solidFill>
                  <a:schemeClr val="tx1"/>
                </a:solidFill>
              </a:endParaRPr>
            </a:p>
          </p:txBody>
        </p:sp>
      </p:grpSp>
      <p:pic>
        <p:nvPicPr>
          <p:cNvPr id="80" name="Picture 7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91191" y="2404575"/>
            <a:ext cx="962939" cy="541653"/>
          </a:xfrm>
          <a:prstGeom prst="rect">
            <a:avLst/>
          </a:prstGeom>
        </p:spPr>
      </p:pic>
      <p:pic>
        <p:nvPicPr>
          <p:cNvPr id="81" name="Picture 80"/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0" b="99688" l="0" r="100000">
                        <a14:foregroundMark x1="36563" y1="22500" x2="36563" y2="22500"/>
                        <a14:foregroundMark x1="50938" y1="13438" x2="50938" y2="13438"/>
                        <a14:foregroundMark x1="63438" y1="15000" x2="63438" y2="15000"/>
                        <a14:foregroundMark x1="70938" y1="28125" x2="70938" y2="28125"/>
                        <a14:foregroundMark x1="63125" y1="42188" x2="63125" y2="42188"/>
                        <a14:foregroundMark x1="50625" y1="48750" x2="50625" y2="48750"/>
                        <a14:foregroundMark x1="36875" y1="44063" x2="36875" y2="44063"/>
                        <a14:foregroundMark x1="28438" y1="32813" x2="28438" y2="32813"/>
                        <a14:foregroundMark x1="50313" y1="8750" x2="50313" y2="8750"/>
                        <a14:foregroundMark x1="53438" y1="11563" x2="53438" y2="11563"/>
                        <a14:foregroundMark x1="35938" y1="69063" x2="35938" y2="69063"/>
                        <a14:foregroundMark x1="39375" y1="71875" x2="39375" y2="71875"/>
                        <a14:foregroundMark x1="48750" y1="69375" x2="48750" y2="69375"/>
                        <a14:foregroundMark x1="8438" y1="73438" x2="8438" y2="73438"/>
                        <a14:foregroundMark x1="21875" y1="71563" x2="21875" y2="71563"/>
                        <a14:foregroundMark x1="26875" y1="73125" x2="26875" y2="73125"/>
                        <a14:foregroundMark x1="35625" y1="72500" x2="35625" y2="72500"/>
                        <a14:foregroundMark x1="49688" y1="74688" x2="49688" y2="74688"/>
                        <a14:foregroundMark x1="57813" y1="73125" x2="57813" y2="73125"/>
                        <a14:foregroundMark x1="75313" y1="70625" x2="75313" y2="70625"/>
                        <a14:foregroundMark x1="26250" y1="30625" x2="26250" y2="30625"/>
                        <a14:foregroundMark x1="28750" y1="28750" x2="28750" y2="28750"/>
                        <a14:foregroundMark x1="35938" y1="39063" x2="35938" y2="39063"/>
                        <a14:foregroundMark x1="40313" y1="43750" x2="40313" y2="43750"/>
                        <a14:foregroundMark x1="31875" y1="44063" x2="31875" y2="44063"/>
                        <a14:foregroundMark x1="50313" y1="52812" x2="50313" y2="52812"/>
                        <a14:foregroundMark x1="46875" y1="51563" x2="46875" y2="51563"/>
                        <a14:foregroundMark x1="86250" y1="72188" x2="86250" y2="72188"/>
                        <a14:foregroundMark x1="46250" y1="11563" x2="46250" y2="11563"/>
                        <a14:foregroundMark x1="29063" y1="26250" x2="29063" y2="26250"/>
                        <a14:foregroundMark x1="36875" y1="49375" x2="36875" y2="49375"/>
                        <a14:foregroundMark x1="61250" y1="73125" x2="61250" y2="7312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1091" y="2432088"/>
            <a:ext cx="514140" cy="514140"/>
          </a:xfrm>
          <a:prstGeom prst="rect">
            <a:avLst/>
          </a:prstGeom>
        </p:spPr>
      </p:pic>
      <p:sp>
        <p:nvSpPr>
          <p:cNvPr id="82" name="TextBox 81"/>
          <p:cNvSpPr txBox="1"/>
          <p:nvPr/>
        </p:nvSpPr>
        <p:spPr>
          <a:xfrm>
            <a:off x="10091191" y="3087232"/>
            <a:ext cx="13161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BI &amp; Reporting</a:t>
            </a:r>
          </a:p>
        </p:txBody>
      </p:sp>
      <p:pic>
        <p:nvPicPr>
          <p:cNvPr id="83" name="Picture 82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04119" y="3491052"/>
            <a:ext cx="682671" cy="682671"/>
          </a:xfrm>
          <a:prstGeom prst="rect">
            <a:avLst/>
          </a:prstGeom>
        </p:spPr>
      </p:pic>
      <p:sp>
        <p:nvSpPr>
          <p:cNvPr id="84" name="TextBox 83"/>
          <p:cNvSpPr txBox="1"/>
          <p:nvPr/>
        </p:nvSpPr>
        <p:spPr>
          <a:xfrm>
            <a:off x="10087366" y="4258855"/>
            <a:ext cx="13161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Ad – Hoc </a:t>
            </a:r>
            <a:br>
              <a:rPr lang="en-US" sz="1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SQL Queries</a:t>
            </a:r>
          </a:p>
        </p:txBody>
      </p:sp>
      <p:pic>
        <p:nvPicPr>
          <p:cNvPr id="85" name="Picture 84"/>
          <p:cNvPicPr>
            <a:picLocks noChangeAspect="1"/>
          </p:cNvPicPr>
          <p:nvPr/>
        </p:nvPicPr>
        <p:blipFill>
          <a:blip r:embed="rId6" cstate="print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9945" b="89503" l="1105" r="9779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8469" y="4816243"/>
            <a:ext cx="753967" cy="753967"/>
          </a:xfrm>
          <a:prstGeom prst="rect">
            <a:avLst/>
          </a:prstGeom>
        </p:spPr>
      </p:pic>
      <p:sp>
        <p:nvSpPr>
          <p:cNvPr id="86" name="TextBox 85"/>
          <p:cNvSpPr txBox="1"/>
          <p:nvPr/>
        </p:nvSpPr>
        <p:spPr>
          <a:xfrm>
            <a:off x="10095349" y="5571991"/>
            <a:ext cx="13161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</a:t>
            </a:r>
          </a:p>
        </p:txBody>
      </p:sp>
      <p:pic>
        <p:nvPicPr>
          <p:cNvPr id="88" name="Picture 87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40692" y="128183"/>
            <a:ext cx="911520" cy="741370"/>
          </a:xfrm>
          <a:prstGeom prst="rect">
            <a:avLst/>
          </a:prstGeom>
        </p:spPr>
      </p:pic>
      <p:sp>
        <p:nvSpPr>
          <p:cNvPr id="2" name="Rounded Rectangle 1"/>
          <p:cNvSpPr/>
          <p:nvPr/>
        </p:nvSpPr>
        <p:spPr>
          <a:xfrm>
            <a:off x="2920473" y="2722908"/>
            <a:ext cx="1450450" cy="227470"/>
          </a:xfrm>
          <a:prstGeom prst="round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 err="1" smtClean="0">
                <a:solidFill>
                  <a:schemeClr val="tx1"/>
                </a:solidFill>
              </a:rPr>
              <a:t>Dim_Customers</a:t>
            </a:r>
            <a:endParaRPr lang="en-US" sz="1000" b="1" dirty="0">
              <a:solidFill>
                <a:schemeClr val="tx1"/>
              </a:solidFill>
            </a:endParaRPr>
          </a:p>
        </p:txBody>
      </p:sp>
      <p:sp>
        <p:nvSpPr>
          <p:cNvPr id="87" name="Rounded Rectangle 86"/>
          <p:cNvSpPr/>
          <p:nvPr/>
        </p:nvSpPr>
        <p:spPr>
          <a:xfrm>
            <a:off x="2906472" y="3039772"/>
            <a:ext cx="1450450" cy="227470"/>
          </a:xfrm>
          <a:prstGeom prst="round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 err="1" smtClean="0">
                <a:solidFill>
                  <a:schemeClr val="tx1"/>
                </a:solidFill>
              </a:rPr>
              <a:t>Dim_Products</a:t>
            </a:r>
            <a:endParaRPr lang="en-US" sz="1000" dirty="0"/>
          </a:p>
        </p:txBody>
      </p:sp>
      <p:sp>
        <p:nvSpPr>
          <p:cNvPr id="89" name="Rounded Rectangle 88"/>
          <p:cNvSpPr/>
          <p:nvPr/>
        </p:nvSpPr>
        <p:spPr>
          <a:xfrm>
            <a:off x="2899813" y="3356636"/>
            <a:ext cx="1450450" cy="227470"/>
          </a:xfrm>
          <a:prstGeom prst="round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 err="1" smtClean="0">
                <a:solidFill>
                  <a:schemeClr val="tx1"/>
                </a:solidFill>
              </a:rPr>
              <a:t>Dim_Orders</a:t>
            </a:r>
            <a:endParaRPr lang="en-US" sz="1000" dirty="0"/>
          </a:p>
        </p:txBody>
      </p:sp>
      <p:sp>
        <p:nvSpPr>
          <p:cNvPr id="90" name="Rounded Rectangle 89"/>
          <p:cNvSpPr/>
          <p:nvPr/>
        </p:nvSpPr>
        <p:spPr>
          <a:xfrm>
            <a:off x="2904564" y="3673500"/>
            <a:ext cx="1450450" cy="227470"/>
          </a:xfrm>
          <a:prstGeom prst="round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 err="1" smtClean="0">
                <a:solidFill>
                  <a:schemeClr val="tx1"/>
                </a:solidFill>
              </a:rPr>
              <a:t>Fact_OrderItems</a:t>
            </a:r>
            <a:endParaRPr lang="en-US" sz="1000" dirty="0"/>
          </a:p>
        </p:txBody>
      </p:sp>
      <p:sp>
        <p:nvSpPr>
          <p:cNvPr id="99" name="Rounded Rectangle 98"/>
          <p:cNvSpPr/>
          <p:nvPr/>
        </p:nvSpPr>
        <p:spPr>
          <a:xfrm>
            <a:off x="7471290" y="2918429"/>
            <a:ext cx="1450450" cy="227470"/>
          </a:xfrm>
          <a:prstGeom prst="round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 err="1" smtClean="0">
                <a:solidFill>
                  <a:schemeClr val="tx1"/>
                </a:solidFill>
              </a:rPr>
              <a:t>Dim_Customers</a:t>
            </a:r>
            <a:endParaRPr lang="en-US" sz="1000" b="1" dirty="0">
              <a:solidFill>
                <a:schemeClr val="tx1"/>
              </a:solidFill>
            </a:endParaRPr>
          </a:p>
        </p:txBody>
      </p:sp>
      <p:sp>
        <p:nvSpPr>
          <p:cNvPr id="100" name="Rounded Rectangle 99"/>
          <p:cNvSpPr/>
          <p:nvPr/>
        </p:nvSpPr>
        <p:spPr>
          <a:xfrm>
            <a:off x="7477447" y="3232337"/>
            <a:ext cx="1450450" cy="227470"/>
          </a:xfrm>
          <a:prstGeom prst="round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 err="1" smtClean="0">
                <a:solidFill>
                  <a:schemeClr val="tx1"/>
                </a:solidFill>
              </a:rPr>
              <a:t>Dim_Products</a:t>
            </a:r>
            <a:endParaRPr lang="en-US" sz="1000" dirty="0"/>
          </a:p>
        </p:txBody>
      </p:sp>
      <p:sp>
        <p:nvSpPr>
          <p:cNvPr id="101" name="Rounded Rectangle 100"/>
          <p:cNvSpPr/>
          <p:nvPr/>
        </p:nvSpPr>
        <p:spPr>
          <a:xfrm>
            <a:off x="7489697" y="3546245"/>
            <a:ext cx="1450450" cy="227470"/>
          </a:xfrm>
          <a:prstGeom prst="round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 err="1" smtClean="0">
                <a:solidFill>
                  <a:schemeClr val="tx1"/>
                </a:solidFill>
              </a:rPr>
              <a:t>Fact_Orders</a:t>
            </a:r>
            <a:endParaRPr lang="en-US" sz="1000" dirty="0"/>
          </a:p>
        </p:txBody>
      </p:sp>
      <p:sp>
        <p:nvSpPr>
          <p:cNvPr id="79" name="Rounded Rectangle 78"/>
          <p:cNvSpPr/>
          <p:nvPr/>
        </p:nvSpPr>
        <p:spPr>
          <a:xfrm>
            <a:off x="5221254" y="2721202"/>
            <a:ext cx="1450450" cy="227470"/>
          </a:xfrm>
          <a:prstGeom prst="round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 err="1" smtClean="0">
                <a:solidFill>
                  <a:schemeClr val="tx1"/>
                </a:solidFill>
              </a:rPr>
              <a:t>Dim_Customers</a:t>
            </a:r>
            <a:endParaRPr lang="en-US" sz="1000" b="1" dirty="0">
              <a:solidFill>
                <a:schemeClr val="tx1"/>
              </a:solidFill>
            </a:endParaRPr>
          </a:p>
        </p:txBody>
      </p:sp>
      <p:sp>
        <p:nvSpPr>
          <p:cNvPr id="102" name="Rounded Rectangle 101"/>
          <p:cNvSpPr/>
          <p:nvPr/>
        </p:nvSpPr>
        <p:spPr>
          <a:xfrm>
            <a:off x="5207253" y="3038066"/>
            <a:ext cx="1450450" cy="227470"/>
          </a:xfrm>
          <a:prstGeom prst="round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 err="1" smtClean="0">
                <a:solidFill>
                  <a:schemeClr val="tx1"/>
                </a:solidFill>
              </a:rPr>
              <a:t>Dim_Products</a:t>
            </a:r>
            <a:endParaRPr lang="en-US" sz="1000" dirty="0"/>
          </a:p>
        </p:txBody>
      </p:sp>
      <p:sp>
        <p:nvSpPr>
          <p:cNvPr id="103" name="Rounded Rectangle 102"/>
          <p:cNvSpPr/>
          <p:nvPr/>
        </p:nvSpPr>
        <p:spPr>
          <a:xfrm>
            <a:off x="5200594" y="3354930"/>
            <a:ext cx="1450450" cy="227470"/>
          </a:xfrm>
          <a:prstGeom prst="round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 err="1" smtClean="0">
                <a:solidFill>
                  <a:schemeClr val="tx1"/>
                </a:solidFill>
              </a:rPr>
              <a:t>Dim_Orders</a:t>
            </a:r>
            <a:endParaRPr lang="en-US" sz="1000" dirty="0"/>
          </a:p>
        </p:txBody>
      </p:sp>
      <p:sp>
        <p:nvSpPr>
          <p:cNvPr id="104" name="Rounded Rectangle 103"/>
          <p:cNvSpPr/>
          <p:nvPr/>
        </p:nvSpPr>
        <p:spPr>
          <a:xfrm>
            <a:off x="5205345" y="3671794"/>
            <a:ext cx="1450450" cy="227470"/>
          </a:xfrm>
          <a:prstGeom prst="round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 err="1" smtClean="0">
                <a:solidFill>
                  <a:schemeClr val="tx1"/>
                </a:solidFill>
              </a:rPr>
              <a:t>Fact_OrderItems</a:t>
            </a:r>
            <a:endParaRPr lang="en-US" sz="1000" dirty="0"/>
          </a:p>
        </p:txBody>
      </p:sp>
      <p:cxnSp>
        <p:nvCxnSpPr>
          <p:cNvPr id="44" name="Elbow Connector 43"/>
          <p:cNvCxnSpPr>
            <a:stCxn id="35" idx="3"/>
          </p:cNvCxnSpPr>
          <p:nvPr/>
        </p:nvCxnSpPr>
        <p:spPr>
          <a:xfrm flipV="1">
            <a:off x="1776561" y="2834937"/>
            <a:ext cx="1058635" cy="464162"/>
          </a:xfrm>
          <a:prstGeom prst="bentConnector3">
            <a:avLst>
              <a:gd name="adj1" fmla="val 55497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Elbow Connector 45"/>
          <p:cNvCxnSpPr>
            <a:stCxn id="119" idx="3"/>
          </p:cNvCxnSpPr>
          <p:nvPr/>
        </p:nvCxnSpPr>
        <p:spPr>
          <a:xfrm flipV="1">
            <a:off x="1606247" y="3153507"/>
            <a:ext cx="1214948" cy="145609"/>
          </a:xfrm>
          <a:prstGeom prst="bentConnector3">
            <a:avLst>
              <a:gd name="adj1" fmla="val 62317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Elbow Connector 47"/>
          <p:cNvCxnSpPr/>
          <p:nvPr/>
        </p:nvCxnSpPr>
        <p:spPr>
          <a:xfrm>
            <a:off x="2243263" y="3299099"/>
            <a:ext cx="563931" cy="169566"/>
          </a:xfrm>
          <a:prstGeom prst="bentConnector3">
            <a:avLst>
              <a:gd name="adj1" fmla="val 21993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Elbow Connector 51"/>
          <p:cNvCxnSpPr>
            <a:stCxn id="119" idx="3"/>
          </p:cNvCxnSpPr>
          <p:nvPr/>
        </p:nvCxnSpPr>
        <p:spPr>
          <a:xfrm>
            <a:off x="1606247" y="3299116"/>
            <a:ext cx="1200947" cy="493350"/>
          </a:xfrm>
          <a:prstGeom prst="bentConnector3">
            <a:avLst>
              <a:gd name="adj1" fmla="val 63844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Elbow Connector 54"/>
          <p:cNvCxnSpPr>
            <a:stCxn id="2" idx="3"/>
          </p:cNvCxnSpPr>
          <p:nvPr/>
        </p:nvCxnSpPr>
        <p:spPr>
          <a:xfrm flipV="1">
            <a:off x="4370923" y="2834937"/>
            <a:ext cx="755628" cy="1706"/>
          </a:xfrm>
          <a:prstGeom prst="bentConnector3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Elbow Connector 112"/>
          <p:cNvCxnSpPr/>
          <p:nvPr/>
        </p:nvCxnSpPr>
        <p:spPr>
          <a:xfrm flipV="1">
            <a:off x="4350263" y="3152654"/>
            <a:ext cx="755628" cy="1706"/>
          </a:xfrm>
          <a:prstGeom prst="bentConnector3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Elbow Connector 113"/>
          <p:cNvCxnSpPr/>
          <p:nvPr/>
        </p:nvCxnSpPr>
        <p:spPr>
          <a:xfrm flipV="1">
            <a:off x="4350263" y="3468665"/>
            <a:ext cx="755628" cy="1706"/>
          </a:xfrm>
          <a:prstGeom prst="bentConnector3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Elbow Connector 114"/>
          <p:cNvCxnSpPr/>
          <p:nvPr/>
        </p:nvCxnSpPr>
        <p:spPr>
          <a:xfrm flipV="1">
            <a:off x="4355342" y="3779400"/>
            <a:ext cx="755628" cy="1706"/>
          </a:xfrm>
          <a:prstGeom prst="bentConnector3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Elbow Connector 57"/>
          <p:cNvCxnSpPr>
            <a:stCxn id="79" idx="3"/>
          </p:cNvCxnSpPr>
          <p:nvPr/>
        </p:nvCxnSpPr>
        <p:spPr>
          <a:xfrm>
            <a:off x="6671704" y="2834937"/>
            <a:ext cx="734722" cy="217016"/>
          </a:xfrm>
          <a:prstGeom prst="bentConnector3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Elbow Connector 115"/>
          <p:cNvCxnSpPr/>
          <p:nvPr/>
        </p:nvCxnSpPr>
        <p:spPr>
          <a:xfrm>
            <a:off x="6664845" y="3152654"/>
            <a:ext cx="734722" cy="217016"/>
          </a:xfrm>
          <a:prstGeom prst="bentConnector3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Elbow Connector 116"/>
          <p:cNvCxnSpPr/>
          <p:nvPr/>
        </p:nvCxnSpPr>
        <p:spPr>
          <a:xfrm>
            <a:off x="6664845" y="3475924"/>
            <a:ext cx="734722" cy="193431"/>
          </a:xfrm>
          <a:prstGeom prst="bentConnector3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Elbow Connector 60"/>
          <p:cNvCxnSpPr>
            <a:stCxn id="104" idx="3"/>
          </p:cNvCxnSpPr>
          <p:nvPr/>
        </p:nvCxnSpPr>
        <p:spPr>
          <a:xfrm flipV="1">
            <a:off x="6655795" y="3669355"/>
            <a:ext cx="743772" cy="116174"/>
          </a:xfrm>
          <a:prstGeom prst="bentConnector3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8" name="Group 117"/>
          <p:cNvGrpSpPr/>
          <p:nvPr/>
        </p:nvGrpSpPr>
        <p:grpSpPr>
          <a:xfrm>
            <a:off x="862647" y="3067018"/>
            <a:ext cx="1297460" cy="877864"/>
            <a:chOff x="1156014" y="2494485"/>
            <a:chExt cx="1206346" cy="934780"/>
          </a:xfrm>
        </p:grpSpPr>
        <p:pic>
          <p:nvPicPr>
            <p:cNvPr id="119" name="Picture 118"/>
            <p:cNvPicPr>
              <a:picLocks noChangeAspect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61275" y="2494485"/>
              <a:ext cx="686120" cy="494292"/>
            </a:xfrm>
            <a:prstGeom prst="rect">
              <a:avLst/>
            </a:prstGeom>
          </p:spPr>
        </p:pic>
        <p:pic>
          <p:nvPicPr>
            <p:cNvPr id="120" name="Picture 119"/>
            <p:cNvPicPr>
              <a:picLocks noChangeAspect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516234" y="2721955"/>
              <a:ext cx="484106" cy="484106"/>
            </a:xfrm>
            <a:prstGeom prst="rect">
              <a:avLst/>
            </a:prstGeom>
          </p:spPr>
        </p:pic>
        <p:sp>
          <p:nvSpPr>
            <p:cNvPr id="121" name="TextBox 120"/>
            <p:cNvSpPr txBox="1"/>
            <p:nvPr/>
          </p:nvSpPr>
          <p:spPr>
            <a:xfrm>
              <a:off x="1156014" y="3167080"/>
              <a:ext cx="1206346" cy="2621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b="1" dirty="0" smtClean="0"/>
                <a:t>SQL Project Dataset</a:t>
              </a:r>
              <a:endParaRPr lang="en-US" sz="1000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4606410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Box"/>
          <p:cNvSpPr/>
          <p:nvPr/>
        </p:nvSpPr>
        <p:spPr>
          <a:xfrm>
            <a:off x="81481" y="81481"/>
            <a:ext cx="12032056" cy="6681458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`</a:t>
            </a:r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226337" y="253497"/>
            <a:ext cx="2779413" cy="36933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Integration Model:-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707599" y="1941959"/>
            <a:ext cx="4779819" cy="3070616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ounded Rectangle 46"/>
          <p:cNvSpPr/>
          <p:nvPr/>
        </p:nvSpPr>
        <p:spPr>
          <a:xfrm>
            <a:off x="6283093" y="2344657"/>
            <a:ext cx="1450450" cy="227470"/>
          </a:xfrm>
          <a:prstGeom prst="roundRect">
            <a:avLst/>
          </a:prstGeom>
          <a:solidFill>
            <a:srgbClr val="FFCC0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 err="1" smtClean="0">
                <a:solidFill>
                  <a:schemeClr val="tx1"/>
                </a:solidFill>
              </a:rPr>
              <a:t>Dim_Customers</a:t>
            </a:r>
            <a:endParaRPr lang="en-US" sz="1000" b="1" dirty="0">
              <a:solidFill>
                <a:schemeClr val="tx1"/>
              </a:solidFill>
            </a:endParaRPr>
          </a:p>
        </p:txBody>
      </p:sp>
      <p:sp>
        <p:nvSpPr>
          <p:cNvPr id="48" name="Rounded Rectangle 47"/>
          <p:cNvSpPr/>
          <p:nvPr/>
        </p:nvSpPr>
        <p:spPr>
          <a:xfrm>
            <a:off x="6283093" y="3115584"/>
            <a:ext cx="1450450" cy="227470"/>
          </a:xfrm>
          <a:prstGeom prst="roundRect">
            <a:avLst/>
          </a:prstGeom>
          <a:solidFill>
            <a:srgbClr val="FFCC0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 err="1" smtClean="0">
                <a:solidFill>
                  <a:schemeClr val="tx1"/>
                </a:solidFill>
              </a:rPr>
              <a:t>Dim_Products</a:t>
            </a:r>
            <a:endParaRPr lang="en-US" sz="1000" dirty="0"/>
          </a:p>
        </p:txBody>
      </p:sp>
      <p:sp>
        <p:nvSpPr>
          <p:cNvPr id="49" name="Rounded Rectangle 48"/>
          <p:cNvSpPr/>
          <p:nvPr/>
        </p:nvSpPr>
        <p:spPr>
          <a:xfrm>
            <a:off x="6283093" y="3886510"/>
            <a:ext cx="1450450" cy="227470"/>
          </a:xfrm>
          <a:prstGeom prst="roundRect">
            <a:avLst/>
          </a:prstGeom>
          <a:solidFill>
            <a:srgbClr val="FFCC0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 err="1" smtClean="0">
                <a:solidFill>
                  <a:schemeClr val="tx1"/>
                </a:solidFill>
              </a:rPr>
              <a:t>Dim_Orders</a:t>
            </a:r>
            <a:endParaRPr lang="en-US" sz="1000" dirty="0"/>
          </a:p>
        </p:txBody>
      </p:sp>
      <p:sp>
        <p:nvSpPr>
          <p:cNvPr id="50" name="Rounded Rectangle 49"/>
          <p:cNvSpPr/>
          <p:nvPr/>
        </p:nvSpPr>
        <p:spPr>
          <a:xfrm>
            <a:off x="4089585" y="3129166"/>
            <a:ext cx="1450450" cy="227470"/>
          </a:xfrm>
          <a:prstGeom prst="roundRect">
            <a:avLst/>
          </a:prstGeom>
          <a:solidFill>
            <a:srgbClr val="CCECFF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 err="1" smtClean="0">
                <a:solidFill>
                  <a:schemeClr val="tx1"/>
                </a:solidFill>
              </a:rPr>
              <a:t>Fact_OrderItems</a:t>
            </a:r>
            <a:endParaRPr lang="en-US" sz="1000" dirty="0"/>
          </a:p>
        </p:txBody>
      </p:sp>
      <p:sp>
        <p:nvSpPr>
          <p:cNvPr id="53" name="Rounded Rectangle 52"/>
          <p:cNvSpPr/>
          <p:nvPr/>
        </p:nvSpPr>
        <p:spPr>
          <a:xfrm>
            <a:off x="6283093" y="2575672"/>
            <a:ext cx="1450450" cy="227470"/>
          </a:xfrm>
          <a:prstGeom prst="roundRect">
            <a:avLst/>
          </a:prstGeom>
          <a:solidFill>
            <a:srgbClr val="FFFFCC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 err="1" smtClean="0">
                <a:solidFill>
                  <a:schemeClr val="tx1"/>
                </a:solidFill>
              </a:rPr>
              <a:t>Customer_Id</a:t>
            </a:r>
            <a:endParaRPr lang="en-US" sz="1000" b="1" dirty="0">
              <a:solidFill>
                <a:schemeClr val="tx1"/>
              </a:solidFill>
            </a:endParaRPr>
          </a:p>
        </p:txBody>
      </p:sp>
      <p:sp>
        <p:nvSpPr>
          <p:cNvPr id="55" name="Rounded Rectangle 54"/>
          <p:cNvSpPr/>
          <p:nvPr/>
        </p:nvSpPr>
        <p:spPr>
          <a:xfrm>
            <a:off x="6283093" y="3356636"/>
            <a:ext cx="1450450" cy="227470"/>
          </a:xfrm>
          <a:prstGeom prst="roundRect">
            <a:avLst/>
          </a:prstGeom>
          <a:solidFill>
            <a:srgbClr val="FFFFCC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 err="1" smtClean="0">
                <a:solidFill>
                  <a:schemeClr val="tx1"/>
                </a:solidFill>
              </a:rPr>
              <a:t>Product_Id</a:t>
            </a:r>
            <a:endParaRPr lang="en-US" sz="1000" b="1" dirty="0" smtClean="0">
              <a:solidFill>
                <a:schemeClr val="tx1"/>
              </a:solidFill>
            </a:endParaRPr>
          </a:p>
        </p:txBody>
      </p:sp>
      <p:sp>
        <p:nvSpPr>
          <p:cNvPr id="57" name="Rounded Rectangle 56"/>
          <p:cNvSpPr/>
          <p:nvPr/>
        </p:nvSpPr>
        <p:spPr>
          <a:xfrm>
            <a:off x="6283093" y="4133489"/>
            <a:ext cx="1450450" cy="227470"/>
          </a:xfrm>
          <a:prstGeom prst="roundRect">
            <a:avLst/>
          </a:prstGeom>
          <a:solidFill>
            <a:srgbClr val="FFFFCC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 err="1" smtClean="0">
                <a:solidFill>
                  <a:schemeClr val="tx1"/>
                </a:solidFill>
              </a:rPr>
              <a:t>Order_Id</a:t>
            </a:r>
            <a:endParaRPr lang="en-US" sz="1000" b="1" dirty="0">
              <a:solidFill>
                <a:schemeClr val="tx1"/>
              </a:solidFill>
            </a:endParaRPr>
          </a:p>
        </p:txBody>
      </p:sp>
      <p:sp>
        <p:nvSpPr>
          <p:cNvPr id="59" name="Rounded Rectangle 58"/>
          <p:cNvSpPr/>
          <p:nvPr/>
        </p:nvSpPr>
        <p:spPr>
          <a:xfrm>
            <a:off x="4089585" y="3366269"/>
            <a:ext cx="1450450" cy="227470"/>
          </a:xfrm>
          <a:prstGeom prst="roundRect">
            <a:avLst/>
          </a:prstGeom>
          <a:solidFill>
            <a:srgbClr val="FFFFCC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 err="1" smtClean="0">
                <a:solidFill>
                  <a:schemeClr val="tx1"/>
                </a:solidFill>
              </a:rPr>
              <a:t>Product_Id</a:t>
            </a:r>
            <a:endParaRPr lang="en-US" sz="1000" b="1" dirty="0" smtClean="0">
              <a:solidFill>
                <a:schemeClr val="tx1"/>
              </a:solidFill>
            </a:endParaRPr>
          </a:p>
        </p:txBody>
      </p:sp>
      <p:sp>
        <p:nvSpPr>
          <p:cNvPr id="60" name="Rounded Rectangle 59"/>
          <p:cNvSpPr/>
          <p:nvPr/>
        </p:nvSpPr>
        <p:spPr>
          <a:xfrm>
            <a:off x="4089585" y="3593739"/>
            <a:ext cx="1450450" cy="227470"/>
          </a:xfrm>
          <a:prstGeom prst="roundRect">
            <a:avLst/>
          </a:prstGeom>
          <a:solidFill>
            <a:srgbClr val="FFFFCC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 err="1" smtClean="0">
                <a:solidFill>
                  <a:schemeClr val="tx1"/>
                </a:solidFill>
              </a:rPr>
              <a:t>Order_Id</a:t>
            </a:r>
            <a:endParaRPr lang="en-US" sz="1000" b="1" dirty="0">
              <a:solidFill>
                <a:schemeClr val="tx1"/>
              </a:solidFill>
            </a:endParaRPr>
          </a:p>
        </p:txBody>
      </p:sp>
      <p:cxnSp>
        <p:nvCxnSpPr>
          <p:cNvPr id="6" name="Elbow Connector 5"/>
          <p:cNvCxnSpPr>
            <a:stCxn id="57" idx="1"/>
          </p:cNvCxnSpPr>
          <p:nvPr/>
        </p:nvCxnSpPr>
        <p:spPr>
          <a:xfrm rot="10800000">
            <a:off x="5540035" y="3699164"/>
            <a:ext cx="743058" cy="548060"/>
          </a:xfrm>
          <a:prstGeom prst="bentConnector3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Elbow Connector 7"/>
          <p:cNvCxnSpPr>
            <a:stCxn id="55" idx="1"/>
          </p:cNvCxnSpPr>
          <p:nvPr/>
        </p:nvCxnSpPr>
        <p:spPr>
          <a:xfrm rot="10800000">
            <a:off x="5540035" y="3461279"/>
            <a:ext cx="743058" cy="9093"/>
          </a:xfrm>
          <a:prstGeom prst="bentConnector3">
            <a:avLst>
              <a:gd name="adj1" fmla="val -342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Rounded Rectangle 61"/>
          <p:cNvSpPr/>
          <p:nvPr/>
        </p:nvSpPr>
        <p:spPr>
          <a:xfrm>
            <a:off x="6283093" y="4359523"/>
            <a:ext cx="1450450" cy="227470"/>
          </a:xfrm>
          <a:prstGeom prst="roundRect">
            <a:avLst/>
          </a:prstGeom>
          <a:solidFill>
            <a:srgbClr val="FFFFCC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 err="1" smtClean="0">
                <a:solidFill>
                  <a:schemeClr val="tx1"/>
                </a:solidFill>
              </a:rPr>
              <a:t>Customer_Id</a:t>
            </a:r>
            <a:endParaRPr lang="en-US" sz="1000" b="1" dirty="0">
              <a:solidFill>
                <a:schemeClr val="tx1"/>
              </a:solidFill>
            </a:endParaRPr>
          </a:p>
        </p:txBody>
      </p:sp>
      <p:cxnSp>
        <p:nvCxnSpPr>
          <p:cNvPr id="11" name="Elbow Connector 10"/>
          <p:cNvCxnSpPr>
            <a:stCxn id="53" idx="1"/>
            <a:endCxn id="62" idx="1"/>
          </p:cNvCxnSpPr>
          <p:nvPr/>
        </p:nvCxnSpPr>
        <p:spPr>
          <a:xfrm rot="10800000" flipV="1">
            <a:off x="6283093" y="2689406"/>
            <a:ext cx="12700" cy="1783851"/>
          </a:xfrm>
          <a:prstGeom prst="bentConnector3">
            <a:avLst>
              <a:gd name="adj1" fmla="val 180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561423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Box"/>
          <p:cNvSpPr/>
          <p:nvPr/>
        </p:nvSpPr>
        <p:spPr>
          <a:xfrm>
            <a:off x="56542" y="81481"/>
            <a:ext cx="12032056" cy="6681458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`</a:t>
            </a:r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134897" y="162057"/>
            <a:ext cx="2779413" cy="338554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Modeling </a:t>
            </a:r>
            <a:r>
              <a:rPr lang="en-US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(Star Schema)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24238785"/>
              </p:ext>
            </p:extLst>
          </p:nvPr>
        </p:nvGraphicFramePr>
        <p:xfrm>
          <a:off x="1787236" y="1895302"/>
          <a:ext cx="1571105" cy="1463040"/>
        </p:xfrm>
        <a:graphic>
          <a:graphicData uri="http://schemas.openxmlformats.org/drawingml/2006/table">
            <a:tbl>
              <a:tblPr/>
              <a:tblGrid>
                <a:gridCol w="406537"/>
                <a:gridCol w="1164568"/>
              </a:tblGrid>
              <a:tr h="191329">
                <a:tc gridSpan="2">
                  <a:txBody>
                    <a:bodyPr/>
                    <a:lstStyle/>
                    <a:p>
                      <a:pPr algn="ctr"/>
                      <a:r>
                        <a:rPr lang="en-US" sz="1000" b="1" dirty="0" err="1" smtClean="0"/>
                        <a:t>Gold.dim_customers</a:t>
                      </a:r>
                      <a:endParaRPr lang="en-US" sz="10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75385"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 smtClean="0"/>
                        <a:t>PK</a:t>
                      </a:r>
                      <a:endParaRPr lang="en-US" sz="10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u="none" dirty="0" err="1" smtClean="0"/>
                        <a:t>Customer_Id</a:t>
                      </a:r>
                      <a:endParaRPr lang="en-US" sz="1000" b="1" u="none" dirty="0" smtClean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</a:tr>
              <a:tr h="175385">
                <a:tc rowSpan="4">
                  <a:txBody>
                    <a:bodyPr/>
                    <a:lstStyle/>
                    <a:p>
                      <a:pPr algn="ctr"/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err="1" smtClean="0"/>
                        <a:t>Customer_Name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75385">
                <a:tc vMerge="1">
                  <a:txBody>
                    <a:bodyPr/>
                    <a:lstStyle/>
                    <a:p>
                      <a:pPr algn="ctr"/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aseline="0" dirty="0" smtClean="0"/>
                        <a:t>Age</a:t>
                      </a:r>
                      <a:endParaRPr lang="en-US" sz="1000" dirty="0" smtClean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75385">
                <a:tc vMerge="1">
                  <a:txBody>
                    <a:bodyPr/>
                    <a:lstStyle/>
                    <a:p>
                      <a:pPr algn="ctr"/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/>
                        <a:t>Gender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75385">
                <a:tc vMerge="1">
                  <a:txBody>
                    <a:bodyPr/>
                    <a:lstStyle/>
                    <a:p>
                      <a:pPr algn="ctr"/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/>
                        <a:t>City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53" name="Table 5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20563844"/>
              </p:ext>
            </p:extLst>
          </p:nvPr>
        </p:nvGraphicFramePr>
        <p:xfrm>
          <a:off x="6841375" y="1873135"/>
          <a:ext cx="1571105" cy="1485207"/>
        </p:xfrm>
        <a:graphic>
          <a:graphicData uri="http://schemas.openxmlformats.org/drawingml/2006/table">
            <a:tbl>
              <a:tblPr/>
              <a:tblGrid>
                <a:gridCol w="406537"/>
                <a:gridCol w="1164568"/>
              </a:tblGrid>
              <a:tr h="266007">
                <a:tc gridSpan="2">
                  <a:txBody>
                    <a:bodyPr/>
                    <a:lstStyle/>
                    <a:p>
                      <a:pPr algn="ctr"/>
                      <a:r>
                        <a:rPr lang="en-US" sz="1000" b="1" dirty="0" err="1" smtClean="0"/>
                        <a:t>Gold_Dim_Products</a:t>
                      </a:r>
                      <a:endParaRPr lang="en-US" sz="10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6913"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 smtClean="0"/>
                        <a:t>PK</a:t>
                      </a:r>
                      <a:endParaRPr lang="en-US" sz="10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u="none" dirty="0" err="1" smtClean="0"/>
                        <a:t>Product_Id</a:t>
                      </a:r>
                      <a:endParaRPr lang="en-US" sz="1000" b="1" u="none" dirty="0" smtClean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</a:tr>
              <a:tr h="236913">
                <a:tc rowSpan="4">
                  <a:txBody>
                    <a:bodyPr/>
                    <a:lstStyle/>
                    <a:p>
                      <a:pPr algn="ctr"/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err="1" smtClean="0"/>
                        <a:t>Product_Name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6913">
                <a:tc vMerge="1">
                  <a:txBody>
                    <a:bodyPr/>
                    <a:lstStyle/>
                    <a:p>
                      <a:pPr algn="ctr"/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/>
                        <a:t>Category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6913">
                <a:tc vMerge="1">
                  <a:txBody>
                    <a:bodyPr/>
                    <a:lstStyle/>
                    <a:p>
                      <a:pPr algn="ctr"/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/>
                        <a:t>Cost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6913">
                <a:tc vMerge="1">
                  <a:txBody>
                    <a:bodyPr/>
                    <a:lstStyle/>
                    <a:p>
                      <a:pPr algn="ctr"/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/>
                        <a:t>Price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55" name="Table 5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148783"/>
              </p:ext>
            </p:extLst>
          </p:nvPr>
        </p:nvGraphicFramePr>
        <p:xfrm>
          <a:off x="4303222" y="2000597"/>
          <a:ext cx="1571105" cy="2698414"/>
        </p:xfrm>
        <a:graphic>
          <a:graphicData uri="http://schemas.openxmlformats.org/drawingml/2006/table">
            <a:tbl>
              <a:tblPr/>
              <a:tblGrid>
                <a:gridCol w="406537"/>
                <a:gridCol w="1164568"/>
              </a:tblGrid>
              <a:tr h="260014">
                <a:tc gridSpan="2">
                  <a:txBody>
                    <a:bodyPr/>
                    <a:lstStyle/>
                    <a:p>
                      <a:pPr algn="ctr"/>
                      <a:r>
                        <a:rPr lang="en-US" sz="1000" b="1" dirty="0" err="1" smtClean="0"/>
                        <a:t>Gold.Fact_Orders</a:t>
                      </a:r>
                      <a:endParaRPr lang="en-US" sz="10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348"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 smtClean="0"/>
                        <a:t>PK</a:t>
                      </a:r>
                      <a:endParaRPr lang="en-US" sz="10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0" u="none" dirty="0" err="1" smtClean="0"/>
                        <a:t>Order_Item_Id</a:t>
                      </a:r>
                      <a:endParaRPr lang="en-US" sz="1000" b="1" u="none" dirty="0" smtClean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66"/>
                    </a:solidFill>
                  </a:tcPr>
                </a:tc>
              </a:tr>
              <a:tr h="238348">
                <a:tc>
                  <a:txBody>
                    <a:bodyPr/>
                    <a:lstStyle/>
                    <a:p>
                      <a:pPr algn="ctr"/>
                      <a:endParaRPr lang="en-US" sz="10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0" dirty="0" err="1" smtClean="0"/>
                        <a:t>Order_Id</a:t>
                      </a:r>
                      <a:endParaRPr lang="en-US" sz="10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38348"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 smtClean="0"/>
                        <a:t>FK</a:t>
                      </a:r>
                      <a:endParaRPr lang="en-US" sz="10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 err="1" smtClean="0"/>
                        <a:t>Customer_Id</a:t>
                      </a:r>
                      <a:endParaRPr lang="en-US" sz="1000" b="1" dirty="0" smtClean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</a:tr>
              <a:tr h="238348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000" b="1" u="none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FK</a:t>
                      </a:r>
                      <a:endParaRPr lang="en-US" sz="1000" b="1" u="none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u="none" kern="1200" dirty="0" err="1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Product_ID</a:t>
                      </a:r>
                      <a:endParaRPr lang="en-US" sz="1000" b="1" u="none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</a:tr>
              <a:tr h="238348">
                <a:tc rowSpan="6">
                  <a:txBody>
                    <a:bodyPr/>
                    <a:lstStyle/>
                    <a:p>
                      <a:pPr algn="ctr"/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err="1" smtClean="0"/>
                        <a:t>Order_Date</a:t>
                      </a:r>
                      <a:endParaRPr lang="en-US" sz="1000" dirty="0" smtClean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348">
                <a:tc vMerge="1">
                  <a:txBody>
                    <a:bodyPr/>
                    <a:lstStyle/>
                    <a:p>
                      <a:pPr algn="ctr"/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/>
                        <a:t>Quantity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348">
                <a:tc vMerge="1">
                  <a:txBody>
                    <a:bodyPr/>
                    <a:lstStyle/>
                    <a:p>
                      <a:pPr algn="ctr"/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/>
                        <a:t>Price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348">
                <a:tc vMerge="1">
                  <a:txBody>
                    <a:bodyPr/>
                    <a:lstStyle/>
                    <a:p>
                      <a:pPr algn="ctr"/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/>
                        <a:t>Cost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348">
                <a:tc vMerge="1">
                  <a:txBody>
                    <a:bodyPr/>
                    <a:lstStyle/>
                    <a:p>
                      <a:pPr algn="ctr"/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/>
                        <a:t>Discount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348">
                <a:tc vMerge="1">
                  <a:txBody>
                    <a:bodyPr/>
                    <a:lstStyle/>
                    <a:p>
                      <a:pPr algn="ctr"/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/>
                        <a:t>Sales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cxnSp>
        <p:nvCxnSpPr>
          <p:cNvPr id="11" name="Elbow Connector 10"/>
          <p:cNvCxnSpPr/>
          <p:nvPr/>
        </p:nvCxnSpPr>
        <p:spPr>
          <a:xfrm>
            <a:off x="3358342" y="2269375"/>
            <a:ext cx="939338" cy="606829"/>
          </a:xfrm>
          <a:prstGeom prst="bentConnector3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Elbow Connector 13"/>
          <p:cNvCxnSpPr/>
          <p:nvPr/>
        </p:nvCxnSpPr>
        <p:spPr>
          <a:xfrm rot="10800000" flipV="1">
            <a:off x="5877098" y="2269375"/>
            <a:ext cx="955964" cy="831272"/>
          </a:xfrm>
          <a:prstGeom prst="bentConnector3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/>
          <p:cNvSpPr txBox="1"/>
          <p:nvPr/>
        </p:nvSpPr>
        <p:spPr>
          <a:xfrm>
            <a:off x="4626033" y="4914469"/>
            <a:ext cx="2032462" cy="446276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b="1" u="sng" dirty="0" smtClean="0"/>
              <a:t>Sales Calculation </a:t>
            </a:r>
            <a:r>
              <a:rPr lang="en-US" sz="1400" b="1" u="sng" dirty="0" smtClean="0"/>
              <a:t/>
            </a:r>
            <a:br>
              <a:rPr lang="en-US" sz="1400" b="1" u="sng" dirty="0" smtClean="0"/>
            </a:br>
            <a:r>
              <a:rPr lang="en-US" sz="900" dirty="0"/>
              <a:t>Sales =</a:t>
            </a:r>
            <a:r>
              <a:rPr lang="en-US" sz="1100" dirty="0" smtClean="0"/>
              <a:t> </a:t>
            </a:r>
            <a:r>
              <a:rPr lang="en-US" sz="1100" dirty="0"/>
              <a:t>(</a:t>
            </a:r>
            <a:r>
              <a:rPr lang="en-US" sz="900" dirty="0" smtClean="0"/>
              <a:t>Price * Quantity)*(1-Quantity)</a:t>
            </a:r>
            <a:endParaRPr lang="en-US" sz="900" dirty="0"/>
          </a:p>
        </p:txBody>
      </p:sp>
      <p:cxnSp>
        <p:nvCxnSpPr>
          <p:cNvPr id="4" name="Elbow Connector 3"/>
          <p:cNvCxnSpPr/>
          <p:nvPr/>
        </p:nvCxnSpPr>
        <p:spPr>
          <a:xfrm rot="16200000" flipH="1">
            <a:off x="5535453" y="4182125"/>
            <a:ext cx="1073992" cy="390700"/>
          </a:xfrm>
          <a:prstGeom prst="bentConnector3">
            <a:avLst>
              <a:gd name="adj1" fmla="val 67802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833062" y="4914469"/>
            <a:ext cx="2032462" cy="446276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b="1" u="sng" dirty="0" smtClean="0"/>
              <a:t>Cost Calculation </a:t>
            </a:r>
            <a:r>
              <a:rPr lang="en-US" sz="1400" b="1" u="sng" dirty="0" smtClean="0"/>
              <a:t/>
            </a:r>
            <a:br>
              <a:rPr lang="en-US" sz="1400" b="1" u="sng" dirty="0" smtClean="0"/>
            </a:br>
            <a:r>
              <a:rPr lang="en-US" sz="900" dirty="0" smtClean="0"/>
              <a:t>Cost =</a:t>
            </a:r>
            <a:r>
              <a:rPr lang="en-US" sz="1100" dirty="0" smtClean="0"/>
              <a:t> (</a:t>
            </a:r>
            <a:r>
              <a:rPr lang="en-US" sz="900" dirty="0" smtClean="0"/>
              <a:t>Cost * Quantity)</a:t>
            </a:r>
            <a:endParaRPr lang="en-US" sz="900" dirty="0"/>
          </a:p>
        </p:txBody>
      </p:sp>
      <p:cxnSp>
        <p:nvCxnSpPr>
          <p:cNvPr id="16" name="Elbow Connector 15"/>
          <p:cNvCxnSpPr/>
          <p:nvPr/>
        </p:nvCxnSpPr>
        <p:spPr>
          <a:xfrm>
            <a:off x="5877098" y="4073236"/>
            <a:ext cx="1854778" cy="841233"/>
          </a:xfrm>
          <a:prstGeom prst="bentConnector3">
            <a:avLst>
              <a:gd name="adj1" fmla="val 100196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998216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475</TotalTime>
  <Words>176</Words>
  <Application>Microsoft Office PowerPoint</Application>
  <PresentationFormat>Widescreen</PresentationFormat>
  <Paragraphs>102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0" baseType="lpstr">
      <vt:lpstr>Arial</vt:lpstr>
      <vt:lpstr>Calibri</vt:lpstr>
      <vt:lpstr>Calibri Light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account</dc:creator>
  <cp:lastModifiedBy>Microsoft account</cp:lastModifiedBy>
  <cp:revision>51</cp:revision>
  <dcterms:created xsi:type="dcterms:W3CDTF">2026-04-10T10:46:15Z</dcterms:created>
  <dcterms:modified xsi:type="dcterms:W3CDTF">2026-05-21T13:27:18Z</dcterms:modified>
</cp:coreProperties>
</file>